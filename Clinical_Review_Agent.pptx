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72"/>
    <p:restoredTop sz="78631"/>
  </p:normalViewPr>
  <p:slideViewPr>
    <p:cSldViewPr snapToGrid="0" snapToObjects="1">
      <p:cViewPr varScale="1">
        <p:scale>
          <a:sx n="100" d="100"/>
          <a:sy n="100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4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0.png"/><Relationship Id="rId5" Type="http://schemas.openxmlformats.org/officeDocument/2006/relationships/image" Target="../media/image11.png"/><Relationship Id="rId10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10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737360"/>
            <a:ext cx="5029200" cy="5029200"/>
          </a:xfrm>
          <a:prstGeom prst="ellipse">
            <a:avLst/>
          </a:prstGeom>
          <a:solidFill>
            <a:srgbClr val="0E4C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07C8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07C8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777240"/>
            <a:ext cx="868680" cy="868680"/>
          </a:xfrm>
          <a:prstGeom prst="ellipse">
            <a:avLst/>
          </a:prstGeom>
          <a:solidFill>
            <a:srgbClr val="12A594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02047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9692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CLINICAL CLAIM REVIEW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Clinical Review Agent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copilot that turns a flagged diagnosis into a complete,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evidence-cited, policy-validated review package a human can approve.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1225296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48920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76856" y="4892040"/>
            <a:ext cx="1225296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276856" y="489204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730752" y="4892040"/>
            <a:ext cx="217170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30752" y="4892040"/>
            <a:ext cx="21717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31052" y="4892040"/>
            <a:ext cx="2382012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31052" y="4892040"/>
            <a:ext cx="23820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copilot proof of concept  ·  Demo data only — not for real clinical, coding, or payment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Even a tiny gain in reviewer productivity is worth a fortune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Cotiviti's Medical Record Coding operation already runs at massive scale — with humans still in the loop on every chart. That combination is exactly where an agentic copilot pays off.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63624" y="2560320"/>
            <a:ext cx="768096" cy="768096"/>
          </a:xfrm>
          <a:prstGeom prst="ellipse">
            <a:avLst/>
          </a:prstGeom>
          <a:solidFill>
            <a:srgbClr val="107C82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91" y="2775387"/>
            <a:ext cx="337962" cy="337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07C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10M+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" y="4233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/ YEAR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6112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processed by the coding operation annually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47872" y="22402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71416" y="2560320"/>
            <a:ext cx="768096" cy="768096"/>
          </a:xfrm>
          <a:prstGeom prst="ellipse">
            <a:avLst/>
          </a:prstGeom>
          <a:solidFill>
            <a:srgbClr val="12A594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483" y="2775387"/>
            <a:ext cx="337962" cy="337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34290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A5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97%+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3547872" y="4233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ACCURACY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03904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coding accuracy across reviewed charts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55664" y="22402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79208" y="2560320"/>
            <a:ext cx="768096" cy="768096"/>
          </a:xfrm>
          <a:prstGeom prst="ellipse">
            <a:avLst/>
          </a:prstGeom>
          <a:solidFill>
            <a:srgbClr val="F97C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275" y="2775387"/>
            <a:ext cx="337962" cy="3379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55664" y="34290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7C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$2B+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6455664" y="4233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711696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incremental risk-adjustment revenue to MA clients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363456" y="22402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287000" y="2560320"/>
            <a:ext cx="768096" cy="768096"/>
          </a:xfrm>
          <a:prstGeom prst="ellipse">
            <a:avLst/>
          </a:prstGeom>
          <a:solidFill>
            <a:srgbClr val="1F9E6E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2067" y="2775387"/>
            <a:ext cx="337962" cy="3379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63456" y="342900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F9E6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4600" dirty="0"/>
          </a:p>
        </p:txBody>
      </p:sp>
      <p:sp>
        <p:nvSpPr>
          <p:cNvPr id="27" name="Text 21"/>
          <p:cNvSpPr/>
          <p:nvPr/>
        </p:nvSpPr>
        <p:spPr>
          <a:xfrm>
            <a:off x="9363456" y="4233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619488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charts &amp; NLP findings reviewed by certified human coders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solidFill>
            <a:srgbClr val="EAF4F5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9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  +  humans still central  +  high dollar stakes  =  even a small lift in reviewer speed or accuracy has significant financial value.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reviewer, one question, a very long 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receives four things...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167128"/>
            <a:ext cx="512064" cy="51206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2310506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2441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diagnoses to verify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41248" y="3108960"/>
            <a:ext cx="512064" cy="51206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6" y="3252338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0723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patient chart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08760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across many encounters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89534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1248" y="4050792"/>
            <a:ext cx="512064" cy="51206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626" y="4194170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0142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&amp; results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4325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scattered across dates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83717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41248" y="4992624"/>
            <a:ext cx="512064" cy="51206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626" y="5136002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956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/ review rule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508760" y="5266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requirements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172200" y="201168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0A3D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537960" y="2331720"/>
            <a:ext cx="731520" cy="731520"/>
          </a:xfrm>
          <a:prstGeom prst="ellipse">
            <a:avLst/>
          </a:prstGeom>
          <a:solidFill>
            <a:srgbClr val="F97C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2786" y="2536546"/>
            <a:ext cx="321869" cy="32186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3796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...then manually searches everything to answer one question: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537960" y="3794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“Is this diagnosis actually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supported by the patient's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medical record?”</a:t>
            </a:r>
            <a:endParaRPr lang="en-US" sz="2400" dirty="0"/>
          </a:p>
        </p:txBody>
      </p:sp>
      <p:sp>
        <p:nvSpPr>
          <p:cNvPr id="30" name="Text 23"/>
          <p:cNvSpPr/>
          <p:nvPr/>
        </p:nvSpPr>
        <p:spPr>
          <a:xfrm>
            <a:off x="6537960" y="5074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NLP surfaces candidate conditions — but a human still has to gather the proof, spot contradictions, and apply the rules, page by page.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agentic copilot that does the searching for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 combines the chart, claims, and a small policy library into one evidence-backed review package. It does the gathering; the reviewer keeps the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1298448"/>
          </a:xfrm>
          <a:prstGeom prst="roundRect">
            <a:avLst>
              <a:gd name="adj" fmla="val 7042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404872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93" y="2573853"/>
            <a:ext cx="265542" cy="265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368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evidence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27632" y="277063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candidate conditions across the whole chart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56432" cy="1298448"/>
          </a:xfrm>
          <a:prstGeom prst="roundRect">
            <a:avLst>
              <a:gd name="adj" fmla="val 7042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45152" y="2404872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133" y="2573853"/>
            <a:ext cx="265542" cy="2655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2368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exact text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76672" y="277063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supporting text to source, date &amp; page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56432" cy="1298448"/>
          </a:xfrm>
          <a:prstGeom prst="roundRect">
            <a:avLst>
              <a:gd name="adj" fmla="val 7042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94192" y="2404872"/>
            <a:ext cx="603504" cy="603504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173" y="2573853"/>
            <a:ext cx="265542" cy="2655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25712" y="2368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contradictions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25712" y="277063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where notes disagree with each other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721608"/>
            <a:ext cx="3456432" cy="1298448"/>
          </a:xfrm>
          <a:prstGeom prst="roundRect">
            <a:avLst>
              <a:gd name="adj" fmla="val 7042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6112" y="3977640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093" y="4146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394106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policy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627632" y="434340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findings against configured rules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9120" y="3721608"/>
            <a:ext cx="3456432" cy="1298448"/>
          </a:xfrm>
          <a:prstGeom prst="roundRect">
            <a:avLst>
              <a:gd name="adj" fmla="val 7042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45152" y="3977640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133" y="4146621"/>
            <a:ext cx="265542" cy="2655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394106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package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376672" y="434340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a cited, structured review case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38160" y="3721608"/>
            <a:ext cx="3456432" cy="1298448"/>
          </a:xfrm>
          <a:prstGeom prst="roundRect">
            <a:avLst>
              <a:gd name="adj" fmla="val 7042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94192" y="3977640"/>
            <a:ext cx="603504" cy="603504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3173" y="4146621"/>
            <a:ext cx="265542" cy="26554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25712" y="394106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125712" y="434340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approves, rejects, or escalates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50000"/>
            </a:avLst>
          </a:prstGeom>
          <a:solidFill>
            <a:srgbClr val="0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640080" y="58064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makes the final coding or payment decision. It prepares the review package — a human reviewer approves or rejects it.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diagnosis family, three deliberately different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MVP diagnosis:   </a:t>
            </a:r>
            <a:r>
              <a:rPr lang="en-US" sz="1500" b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mellitus with chronic kidney disease (CKD) stage 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9584" cy="868680"/>
          </a:xfrm>
          <a:prstGeom prst="roundRect">
            <a:avLst>
              <a:gd name="adj" fmla="val 10526"/>
            </a:avLst>
          </a:prstGeom>
          <a:solidFill>
            <a:srgbClr val="E9F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529584" cy="365760"/>
          </a:xfrm>
          <a:prstGeom prst="rect">
            <a:avLst/>
          </a:prstGeom>
          <a:solidFill>
            <a:srgbClr val="E9F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7802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3500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324612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52044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clearly documented in a current note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" y="4690872"/>
            <a:ext cx="2980944" cy="402336"/>
          </a:xfrm>
          <a:prstGeom prst="roundRect">
            <a:avLst>
              <a:gd name="adj" fmla="val 50000"/>
            </a:avLst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469087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214884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80560" y="2148840"/>
            <a:ext cx="3529584" cy="868680"/>
          </a:xfrm>
          <a:prstGeom prst="roundRect">
            <a:avLst>
              <a:gd name="adj" fmla="val 10526"/>
            </a:avLst>
          </a:prstGeom>
          <a:solidFill>
            <a:srgbClr val="FBF3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80560" y="2651760"/>
            <a:ext cx="3529584" cy="365760"/>
          </a:xfrm>
          <a:prstGeom prst="rect">
            <a:avLst/>
          </a:prstGeom>
          <a:solidFill>
            <a:srgbClr val="FBF3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2350008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478024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9240" y="23500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754880" y="324612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54880" y="352044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CKD appear only separately — no link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754880" y="44348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0" y="4690872"/>
            <a:ext cx="2980944" cy="402336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754880" y="469087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Evidence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321040" y="214884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321040" y="2148840"/>
            <a:ext cx="3529584" cy="868680"/>
          </a:xfrm>
          <a:prstGeom prst="roundRect">
            <a:avLst>
              <a:gd name="adj" fmla="val 10526"/>
            </a:avLst>
          </a:prstGeom>
          <a:solidFill>
            <a:srgbClr val="FB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321040" y="2651760"/>
            <a:ext cx="3529584" cy="365760"/>
          </a:xfrm>
          <a:prstGeom prst="rect">
            <a:avLst/>
          </a:prstGeom>
          <a:solidFill>
            <a:srgbClr val="FBEB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8595360" y="2350008"/>
            <a:ext cx="457200" cy="457200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2478024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189720" y="23500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3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8595360" y="324612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595360" y="352044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specialist evidence contradicts old support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595360" y="44348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595360" y="4690872"/>
            <a:ext cx="2980944" cy="402336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8595360" y="469087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640080" y="5623560"/>
            <a:ext cx="10908792" cy="548640"/>
          </a:xfrm>
          <a:prstGeom prst="rect">
            <a:avLst/>
          </a:prstGeom>
          <a:solidFill>
            <a:srgbClr val="EAF4F5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— not one happy path — because a useful copilot must know when to support, when to abstain, and when to flag a conflict.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668780"/>
            <a:ext cx="548640" cy="54864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82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workspace &amp; actions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37744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7432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41248" y="2857500"/>
            <a:ext cx="548640" cy="54864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30111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8712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5087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door · loads case data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6616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39319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841248" y="4046220"/>
            <a:ext cx="548640" cy="54864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" y="419983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059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50876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agent workflow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709160" y="1554480"/>
            <a:ext cx="2212848" cy="1371600"/>
          </a:xfrm>
          <a:prstGeom prst="roundRect">
            <a:avLst>
              <a:gd name="adj" fmla="val 6667"/>
            </a:avLst>
          </a:prstGeom>
          <a:solidFill>
            <a:srgbClr val="0E4C5B"/>
          </a:solidFill>
          <a:ln w="15240">
            <a:solidFill>
              <a:srgbClr val="107C82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522976" y="1737360"/>
            <a:ext cx="585216" cy="585216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6836" y="1901220"/>
            <a:ext cx="257495" cy="25749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00600" y="233172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(LM Studio)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4800600" y="25877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extraction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explanation writing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7104888" y="1554480"/>
            <a:ext cx="2212848" cy="1371600"/>
          </a:xfrm>
          <a:prstGeom prst="roundRect">
            <a:avLst>
              <a:gd name="adj" fmla="val 6667"/>
            </a:avLst>
          </a:prstGeom>
          <a:solidFill>
            <a:srgbClr val="0E4C5B"/>
          </a:solidFill>
          <a:ln w="15240">
            <a:solidFill>
              <a:srgbClr val="107C82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7918704" y="1737360"/>
            <a:ext cx="585216" cy="5852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2564" y="1901220"/>
            <a:ext cx="257495" cy="25749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96328" y="233172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DB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7196328" y="25877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evidence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GraphRAG retrieval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9500616" y="1554480"/>
            <a:ext cx="2212848" cy="1371600"/>
          </a:xfrm>
          <a:prstGeom prst="roundRect">
            <a:avLst>
              <a:gd name="adj" fmla="val 6667"/>
            </a:avLst>
          </a:prstGeom>
          <a:solidFill>
            <a:srgbClr val="0E4C5B"/>
          </a:solidFill>
          <a:ln w="15240">
            <a:solidFill>
              <a:srgbClr val="107C82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10314432" y="1737360"/>
            <a:ext cx="585216" cy="58521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8292" y="1901220"/>
            <a:ext cx="257495" cy="25749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592056" y="233172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9592056" y="25877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labs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4709160" y="29809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calls these three engines</a:t>
            </a:r>
            <a:endParaRPr lang="en-US" sz="105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3246120"/>
            <a:ext cx="292608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4709160" y="3602736"/>
            <a:ext cx="7004304" cy="566928"/>
          </a:xfrm>
          <a:prstGeom prst="roundRect">
            <a:avLst>
              <a:gd name="adj" fmla="val 14516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8"/>
          <p:cNvSpPr/>
          <p:nvPr/>
        </p:nvSpPr>
        <p:spPr>
          <a:xfrm>
            <a:off x="4873752" y="3703320"/>
            <a:ext cx="457200" cy="457200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768" y="3831336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458968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9006840" y="36758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AI status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4709160" y="4279392"/>
            <a:ext cx="7004304" cy="566928"/>
          </a:xfrm>
          <a:prstGeom prst="roundRect">
            <a:avLst>
              <a:gd name="adj" fmla="val 14516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2"/>
          <p:cNvSpPr/>
          <p:nvPr/>
        </p:nvSpPr>
        <p:spPr>
          <a:xfrm>
            <a:off x="4873752" y="4379976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1768" y="4507992"/>
            <a:ext cx="201168" cy="20116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458968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Evidence-Cited Result</a:t>
            </a:r>
            <a:endParaRPr lang="en-US" sz="1350" dirty="0"/>
          </a:p>
        </p:txBody>
      </p:sp>
      <p:sp>
        <p:nvSpPr>
          <p:cNvPr id="47" name="Text 34"/>
          <p:cNvSpPr/>
          <p:nvPr/>
        </p:nvSpPr>
        <p:spPr>
          <a:xfrm>
            <a:off x="9006840" y="43525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cited proof</a:t>
            </a:r>
            <a:endParaRPr lang="en-US" sz="1100" dirty="0"/>
          </a:p>
        </p:txBody>
      </p:sp>
      <p:sp>
        <p:nvSpPr>
          <p:cNvPr id="48" name="Shape 35"/>
          <p:cNvSpPr/>
          <p:nvPr/>
        </p:nvSpPr>
        <p:spPr>
          <a:xfrm>
            <a:off x="4709160" y="4956048"/>
            <a:ext cx="7004304" cy="566928"/>
          </a:xfrm>
          <a:prstGeom prst="roundRect">
            <a:avLst>
              <a:gd name="adj" fmla="val 14516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6"/>
          <p:cNvSpPr/>
          <p:nvPr/>
        </p:nvSpPr>
        <p:spPr>
          <a:xfrm>
            <a:off x="4873752" y="5056632"/>
            <a:ext cx="457200" cy="457200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1768" y="5184648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458968" y="5029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1350" dirty="0"/>
          </a:p>
        </p:txBody>
      </p:sp>
      <p:sp>
        <p:nvSpPr>
          <p:cNvPr id="52" name="Text 38"/>
          <p:cNvSpPr/>
          <p:nvPr/>
        </p:nvSpPr>
        <p:spPr>
          <a:xfrm>
            <a:off x="900684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action</a:t>
            </a:r>
            <a:endParaRPr lang="en-US" sz="1100" dirty="0"/>
          </a:p>
        </p:txBody>
      </p:sp>
      <p:sp>
        <p:nvSpPr>
          <p:cNvPr id="53" name="Shape 39"/>
          <p:cNvSpPr/>
          <p:nvPr/>
        </p:nvSpPr>
        <p:spPr>
          <a:xfrm>
            <a:off x="4709160" y="5632704"/>
            <a:ext cx="7004304" cy="566928"/>
          </a:xfrm>
          <a:prstGeom prst="roundRect">
            <a:avLst>
              <a:gd name="adj" fmla="val 14516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0"/>
          <p:cNvSpPr/>
          <p:nvPr/>
        </p:nvSpPr>
        <p:spPr>
          <a:xfrm>
            <a:off x="4873752" y="5733288"/>
            <a:ext cx="457200" cy="45720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1768" y="5861304"/>
            <a:ext cx="201168" cy="20116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458968" y="57058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Audit Log</a:t>
            </a:r>
            <a:endParaRPr lang="en-US" sz="1350" dirty="0"/>
          </a:p>
        </p:txBody>
      </p:sp>
      <p:sp>
        <p:nvSpPr>
          <p:cNvPr id="57" name="Text 42"/>
          <p:cNvSpPr/>
          <p:nvPr/>
        </p:nvSpPr>
        <p:spPr>
          <a:xfrm>
            <a:off x="9006840" y="57058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decision</a:t>
            </a:r>
            <a:endParaRPr lang="en-US" sz="1100" dirty="0"/>
          </a:p>
        </p:txBody>
      </p:sp>
      <p:sp>
        <p:nvSpPr>
          <p:cNvPr id="58" name="Text 43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9" name="Text 44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tool has one specific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938528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17" y="2107509"/>
            <a:ext cx="265542" cy="2655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UI &amp; workspace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36792" y="1783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6248" y="1938528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229" y="2107509"/>
            <a:ext cx="265542" cy="2655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42632" y="2286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9536" y="3081528"/>
            <a:ext cx="603504" cy="60350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17" y="3250509"/>
            <a:ext cx="265542" cy="2655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072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3429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orchestration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36792" y="2926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3081528"/>
            <a:ext cx="603504" cy="603504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229" y="3250509"/>
            <a:ext cx="265542" cy="2655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3072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42632" y="3429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semantic extraction + explanation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069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59536" y="4224528"/>
            <a:ext cx="603504" cy="60350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517" y="4393509"/>
            <a:ext cx="265542" cy="2655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215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45920" y="4572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relationships &amp; evidence paths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36792" y="4069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556248" y="4224528"/>
            <a:ext cx="603504" cy="603504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229" y="4393509"/>
            <a:ext cx="265542" cy="2655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42632" y="4215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342632" y="4572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notes &amp; labs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5212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859536" y="5367528"/>
            <a:ext cx="603504" cy="603504"/>
          </a:xfrm>
          <a:prstGeom prst="ellipse">
            <a:avLst/>
          </a:prstGeom>
          <a:solidFill>
            <a:srgbClr val="5C71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517" y="5536509"/>
            <a:ext cx="265542" cy="26554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45920" y="5358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1645920" y="5715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of decisions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336792" y="5212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6556248" y="5367528"/>
            <a:ext cx="603504" cy="603504"/>
          </a:xfrm>
          <a:prstGeom prst="ellipse">
            <a:avLst/>
          </a:prstGeom>
          <a:solidFill>
            <a:srgbClr val="5C71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5229" y="5536509"/>
            <a:ext cx="265542" cy="26554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42632" y="5358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7342632" y="5715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MedGemma locally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27639-3523-FB68-2A56-4147E9A5E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09" y="307910"/>
            <a:ext cx="5189659" cy="624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07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GRAPH DATABASE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normal DB stores rows. Neo4j stores relationships.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 might find diabetes in one note and CKD in another, then wrongly make the claim look supported. A graph separates condition evidence from relationship evidence.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5C71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5767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database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087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rows in separate tables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21868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32186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table  ·  “mentions CKD”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67588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36758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table  ·  “eGFR 42”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13308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51560" y="41330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table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459028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4590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table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each note says — but not how they connect.</a:t>
            </a:r>
            <a:endParaRPr lang="en-US" sz="10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749040"/>
            <a:ext cx="457200" cy="457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577840" y="2194560"/>
            <a:ext cx="5971032" cy="3520440"/>
          </a:xfrm>
          <a:prstGeom prst="roundRect">
            <a:avLst>
              <a:gd name="adj" fmla="val 2597"/>
            </a:avLst>
          </a:prstGeom>
          <a:solidFill>
            <a:srgbClr val="0A3D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806440" y="2423160"/>
            <a:ext cx="548640" cy="54864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059" y="257677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446520" y="2788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connections directly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806440" y="3218688"/>
            <a:ext cx="5532120" cy="402336"/>
          </a:xfrm>
          <a:prstGeom prst="rect">
            <a:avLst/>
          </a:prstGeom>
          <a:solidFill>
            <a:srgbClr val="0E4C5B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 </a:t>
            </a:r>
            <a:r>
              <a:rPr lang="en-US" sz="1150" b="1" dirty="0">
                <a:solidFill>
                  <a:srgbClr val="10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SUBMITS → </a:t>
            </a:r>
            <a:r>
              <a:rPr lang="en-US" sz="1150" b="1" dirty="0">
                <a:solidFill>
                  <a:srgbClr val="8FD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806440" y="3675888"/>
            <a:ext cx="5532120" cy="402336"/>
          </a:xfrm>
          <a:prstGeom prst="rect">
            <a:avLst/>
          </a:prstGeom>
          <a:solidFill>
            <a:srgbClr val="0E4C5B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 </a:t>
            </a:r>
            <a:r>
              <a:rPr lang="en-US" sz="1150" b="1" dirty="0">
                <a:solidFill>
                  <a:srgbClr val="1F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SUPPORTS_RELATIONSHIP → </a:t>
            </a:r>
            <a:r>
              <a:rPr lang="en-US" sz="1150" b="1" dirty="0">
                <a:solidFill>
                  <a:srgbClr val="8FD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Diabetes-with-CKD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806440" y="4133088"/>
            <a:ext cx="5532120" cy="402336"/>
          </a:xfrm>
          <a:prstGeom prst="rect">
            <a:avLst/>
          </a:prstGeom>
          <a:solidFill>
            <a:srgbClr val="0E4C5B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Newer Note  </a:t>
            </a:r>
            <a:r>
              <a:rPr lang="en-US" sz="1150" b="1" dirty="0">
                <a:solidFill>
                  <a:srgbClr val="F97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CONTRADICTS → </a:t>
            </a:r>
            <a:r>
              <a:rPr lang="en-US" sz="1150" b="1" dirty="0">
                <a:solidFill>
                  <a:srgbClr val="8FD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CKD stage 3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806440" y="4590288"/>
            <a:ext cx="5532120" cy="402336"/>
          </a:xfrm>
          <a:prstGeom prst="rect">
            <a:avLst/>
          </a:prstGeom>
          <a:solidFill>
            <a:srgbClr val="0E4C5B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</a:t>
            </a:r>
            <a:r>
              <a:rPr lang="en-US" sz="1150" b="1" dirty="0">
                <a:solidFill>
                  <a:srgbClr val="12A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SATISFIES → </a:t>
            </a:r>
            <a:r>
              <a:rPr lang="en-US" sz="1150" b="1" dirty="0">
                <a:solidFill>
                  <a:srgbClr val="8FD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Requirement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806440" y="5285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relationship questions: are diabetes &amp; CKD explicitly linked? Is newer evidence contradicting older? Which evidence satisfies policy?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RAG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ChromaDB finds the pages · Neo4j proves what they mean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2" y="20994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— ChromaDB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text looks relevant?”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651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note &amp; lab text </a:t>
            </a:r>
            <a:r>
              <a:rPr lang="en-US" sz="1300" b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meaning</a:t>
            </a: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exact keywords — finds related snippets even with different words.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9632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A3D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28232" y="1920240"/>
            <a:ext cx="640080" cy="6400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454" y="20994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— Neo4j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05472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is that evidence connected?”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28232" y="2651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connected evidence </a:t>
            </a:r>
            <a:r>
              <a:rPr lang="en-US" sz="13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&amp; relationships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proving support, contradiction, and policy satisfaction.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 on one claim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4206240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655064" y="4389120"/>
            <a:ext cx="585216" cy="58521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924" y="4552980"/>
            <a:ext cx="257495" cy="2574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" y="5010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77240" y="5248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text (this patient only)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475945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520440" y="4206240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535424" y="4389120"/>
            <a:ext cx="585216" cy="585216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284" y="4552980"/>
            <a:ext cx="257495" cy="25749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20440" y="5010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657600" y="5248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it, extracts relationship edges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759452"/>
            <a:ext cx="219456" cy="21945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400800" y="4206240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415784" y="4389120"/>
            <a:ext cx="585216" cy="5852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644" y="4552980"/>
            <a:ext cx="257495" cy="25749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00800" y="5010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6537960" y="5248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queries the connected graph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4759452"/>
            <a:ext cx="219456" cy="219456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9281160" y="4206240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10296144" y="4389120"/>
            <a:ext cx="585216" cy="585216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004" y="4552980"/>
            <a:ext cx="257495" cy="25749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281160" y="5010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9418320" y="524865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answer into a status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solidFill>
            <a:srgbClr val="EAF4F5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Patient-scoped: 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ChromaDB query is filtered by case / patient ID — even with 500 diabetes charts, only the selected patient's notes are searched.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LangGraph makes it an agent, not a single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627632"/>
            <a:ext cx="402336" cy="40233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8" y="1740286"/>
            <a:ext cx="177028" cy="1770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notes, labs, policy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0848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221992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295144"/>
            <a:ext cx="402336" cy="40233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38" y="2407798"/>
            <a:ext cx="177028" cy="1770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22219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72000" y="2221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semantic + graph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752344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2889504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786384" y="2962656"/>
            <a:ext cx="402336" cy="40233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38" y="3075310"/>
            <a:ext cx="177028" cy="1770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53312" y="28895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extracts edges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572000" y="28895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from chart text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419856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40080" y="3557016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786384" y="3630168"/>
            <a:ext cx="402336" cy="40233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38" y="3742822"/>
            <a:ext cx="177028" cy="17702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53312" y="35570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stores / retrieves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4572000" y="35570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paths &amp; contradictions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087368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40080" y="4224528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19"/>
          <p:cNvSpPr/>
          <p:nvPr/>
        </p:nvSpPr>
        <p:spPr>
          <a:xfrm>
            <a:off x="786384" y="4297680"/>
            <a:ext cx="402336" cy="402336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038" y="4410334"/>
            <a:ext cx="177028" cy="17702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353312" y="4224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deterministic rules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4572000" y="4224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AI status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754880"/>
            <a:ext cx="219456" cy="219456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40080" y="4892040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AF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3"/>
          <p:cNvSpPr/>
          <p:nvPr/>
        </p:nvSpPr>
        <p:spPr>
          <a:xfrm>
            <a:off x="786384" y="4965192"/>
            <a:ext cx="402336" cy="402336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038" y="5077846"/>
            <a:ext cx="177028" cy="17702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353312" y="4892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+ validate citations</a:t>
            </a:r>
            <a:endParaRPr lang="en-US" sz="1350" dirty="0"/>
          </a:p>
        </p:txBody>
      </p:sp>
      <p:sp>
        <p:nvSpPr>
          <p:cNvPr id="38" name="Text 25"/>
          <p:cNvSpPr/>
          <p:nvPr/>
        </p:nvSpPr>
        <p:spPr>
          <a:xfrm>
            <a:off x="457200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writes, IDs checked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6995160" y="1554480"/>
            <a:ext cx="4553712" cy="3703320"/>
          </a:xfrm>
          <a:prstGeom prst="roundRect">
            <a:avLst>
              <a:gd name="adj" fmla="val 2469"/>
            </a:avLst>
          </a:prstGeom>
          <a:solidFill>
            <a:srgbClr val="0E4C5B"/>
          </a:solidFill>
          <a:ln w="1524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7"/>
          <p:cNvSpPr/>
          <p:nvPr/>
        </p:nvSpPr>
        <p:spPr>
          <a:xfrm>
            <a:off x="7223760" y="1764792"/>
            <a:ext cx="502920" cy="502920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4578" y="1905610"/>
            <a:ext cx="221285" cy="221285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86384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branch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7223760" y="2450592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1535" y="2568367"/>
            <a:ext cx="185075" cy="185075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7772400" y="24140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</a:t>
            </a:r>
            <a:endParaRPr lang="en-US" sz="1300" dirty="0"/>
          </a:p>
        </p:txBody>
      </p:sp>
      <p:sp>
        <p:nvSpPr>
          <p:cNvPr id="46" name="Text 31"/>
          <p:cNvSpPr/>
          <p:nvPr/>
        </p:nvSpPr>
        <p:spPr>
          <a:xfrm>
            <a:off x="7772400" y="26883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search again, wider</a:t>
            </a:r>
            <a:endParaRPr lang="en-US" sz="1100" dirty="0"/>
          </a:p>
        </p:txBody>
      </p:sp>
      <p:sp>
        <p:nvSpPr>
          <p:cNvPr id="47" name="Shape 32"/>
          <p:cNvSpPr/>
          <p:nvPr/>
        </p:nvSpPr>
        <p:spPr>
          <a:xfrm>
            <a:off x="7223760" y="3127248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1535" y="3245023"/>
            <a:ext cx="185075" cy="185075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7772400" y="30906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exists</a:t>
            </a:r>
            <a:endParaRPr lang="en-US" sz="1300" dirty="0"/>
          </a:p>
        </p:txBody>
      </p:sp>
      <p:sp>
        <p:nvSpPr>
          <p:cNvPr id="50" name="Text 34"/>
          <p:cNvSpPr/>
          <p:nvPr/>
        </p:nvSpPr>
        <p:spPr>
          <a:xfrm>
            <a:off x="7772400" y="3364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conflict analysis</a:t>
            </a:r>
            <a:endParaRPr lang="en-US" sz="1100" dirty="0"/>
          </a:p>
        </p:txBody>
      </p:sp>
      <p:sp>
        <p:nvSpPr>
          <p:cNvPr id="51" name="Shape 35"/>
          <p:cNvSpPr/>
          <p:nvPr/>
        </p:nvSpPr>
        <p:spPr>
          <a:xfrm>
            <a:off x="7223760" y="3803904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41535" y="3921679"/>
            <a:ext cx="185075" cy="185075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7772400" y="37673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citation</a:t>
            </a:r>
            <a:endParaRPr lang="en-US" sz="1300" dirty="0"/>
          </a:p>
        </p:txBody>
      </p:sp>
      <p:sp>
        <p:nvSpPr>
          <p:cNvPr id="54" name="Text 37"/>
          <p:cNvSpPr/>
          <p:nvPr/>
        </p:nvSpPr>
        <p:spPr>
          <a:xfrm>
            <a:off x="7772400" y="4041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retry validation once</a:t>
            </a:r>
            <a:endParaRPr lang="en-US" sz="1100" dirty="0"/>
          </a:p>
        </p:txBody>
      </p:sp>
      <p:sp>
        <p:nvSpPr>
          <p:cNvPr id="55" name="Shape 38"/>
          <p:cNvSpPr/>
          <p:nvPr/>
        </p:nvSpPr>
        <p:spPr>
          <a:xfrm>
            <a:off x="7223760" y="448056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1535" y="4598335"/>
            <a:ext cx="185075" cy="185075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7772400" y="44439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unresolved</a:t>
            </a:r>
            <a:endParaRPr lang="en-US" sz="1300" dirty="0"/>
          </a:p>
        </p:txBody>
      </p:sp>
      <p:sp>
        <p:nvSpPr>
          <p:cNvPr id="58" name="Text 40"/>
          <p:cNvSpPr/>
          <p:nvPr/>
        </p:nvSpPr>
        <p:spPr>
          <a:xfrm>
            <a:off x="7772400" y="4718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escalate to a human</a:t>
            </a:r>
            <a:endParaRPr lang="en-US" sz="1100" dirty="0"/>
          </a:p>
        </p:txBody>
      </p:sp>
      <p:sp>
        <p:nvSpPr>
          <p:cNvPr id="59" name="Text 41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workflow can search again, analyze conflicts, retry, or escalate — it behaves like a controlled agentic process, not one function call.</a:t>
            </a:r>
            <a:endParaRPr lang="en-US" sz="1250" dirty="0"/>
          </a:p>
        </p:txBody>
      </p:sp>
      <p:sp>
        <p:nvSpPr>
          <p:cNvPr id="60" name="Text 42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43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MedGemma has exactly two jobs — and neither decides the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640080" cy="640080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21451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Semantic graph extraction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claim + notes + labs + policy and proposes graph edges: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48463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NOTE-001 → SUPPORTS_RELATIONSHIP → REL-DM2-CKD3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3639312"/>
            <a:ext cx="48463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NOTE-005 → CONTRADICTS → COND-CKD3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6112" y="4078224"/>
            <a:ext cx="48463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LAB-011 → WEAKENS → COND-CKD3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99632" y="173736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55664" y="1965960"/>
            <a:ext cx="640080" cy="6400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214518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51192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Explanation generation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55664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rules decide the status, MedGemma explains it in plain, reviewer-friendly language: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55664" y="333756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0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638544" y="333756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diagnosis is contradicted because newer specialist evidence no longer supports active CKD stage 3.”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489204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A3D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14400" y="5230368"/>
            <a:ext cx="731520" cy="731520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226" y="5435194"/>
            <a:ext cx="321869" cy="32186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74520" y="51206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never gets unchecked control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874520" y="550468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validates every proposed edge — rejecting fake node IDs, unknown relationship types, and malformed edges — before anything is stored. Deterministic rules, not the model, decide the final status. This is what keeps the copilot safe.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recommends a status — the human chooses the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11680"/>
            <a:ext cx="621792" cy="621792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14" y="2185782"/>
            <a:ext cx="273588" cy="273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4208" y="2304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the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96112" y="2834640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24128" y="2916936"/>
            <a:ext cx="329184" cy="329184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00" y="3009108"/>
            <a:ext cx="144841" cy="1448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83464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96112" y="3438144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24128" y="3520440"/>
            <a:ext cx="329184" cy="329184"/>
          </a:xfrm>
          <a:prstGeom prst="ellipse">
            <a:avLst/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300" y="3612612"/>
            <a:ext cx="144841" cy="14484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343814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Evidence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96112" y="4041648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1024128" y="4123944"/>
            <a:ext cx="329184" cy="329184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00" y="4216116"/>
            <a:ext cx="144841" cy="14484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404164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96112" y="4645152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024128" y="4727448"/>
            <a:ext cx="329184" cy="329184"/>
          </a:xfrm>
          <a:prstGeom prst="ellipse">
            <a:avLst/>
          </a:prstGeom>
          <a:solidFill>
            <a:srgbClr val="5C71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300" y="4819620"/>
            <a:ext cx="144841" cy="1448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464515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96112" y="5248656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3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1024128" y="5330952"/>
            <a:ext cx="329184" cy="329184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300" y="5423124"/>
            <a:ext cx="144841" cy="14484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81328" y="524865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Expert Review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199632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0A3D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455664" y="2011680"/>
            <a:ext cx="621792" cy="621792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766" y="2185782"/>
            <a:ext cx="273588" cy="273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2376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7223760" y="2304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the certified reviewer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455664" y="2880360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6583680" y="2980944"/>
            <a:ext cx="329184" cy="329184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852" y="3073116"/>
            <a:ext cx="144841" cy="144841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040880" y="28803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6455664" y="3538728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6583680" y="3639312"/>
            <a:ext cx="329184" cy="329184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852" y="3731484"/>
            <a:ext cx="144841" cy="144841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040880" y="353872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6455664" y="4197096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2"/>
          <p:cNvSpPr/>
          <p:nvPr/>
        </p:nvSpPr>
        <p:spPr>
          <a:xfrm>
            <a:off x="6583680" y="4297680"/>
            <a:ext cx="329184" cy="329184"/>
          </a:xfrm>
          <a:prstGeom prst="ellipse">
            <a:avLst/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852" y="4389852"/>
            <a:ext cx="144841" cy="144841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040880" y="41970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Documentation</a:t>
            </a:r>
            <a:endParaRPr lang="en-US" sz="1400" dirty="0"/>
          </a:p>
        </p:txBody>
      </p:sp>
      <p:sp>
        <p:nvSpPr>
          <p:cNvPr id="46" name="Shape 34"/>
          <p:cNvSpPr/>
          <p:nvPr/>
        </p:nvSpPr>
        <p:spPr>
          <a:xfrm>
            <a:off x="6455664" y="4855464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5"/>
          <p:cNvSpPr/>
          <p:nvPr/>
        </p:nvSpPr>
        <p:spPr>
          <a:xfrm>
            <a:off x="6583680" y="4956048"/>
            <a:ext cx="329184" cy="329184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852" y="5048220"/>
            <a:ext cx="144841" cy="144841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040880" y="48554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400" dirty="0"/>
          </a:p>
        </p:txBody>
      </p:sp>
      <p:sp>
        <p:nvSpPr>
          <p:cNvPr id="50" name="Text 37"/>
          <p:cNvSpPr/>
          <p:nvPr/>
        </p:nvSpPr>
        <p:spPr>
          <a:xfrm>
            <a:off x="6455664" y="5559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written to the SQLite audit log with timestamp, reviewer, and model metadata.</a:t>
            </a:r>
            <a:endParaRPr lang="en-US" sz="1050" dirty="0"/>
          </a:p>
        </p:txBody>
      </p:sp>
      <p:sp>
        <p:nvSpPr>
          <p:cNvPr id="51" name="Text 3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39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this matters for reviewers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replace reviewers — it's to give them a faster, clearer, evidence-cited starting point.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48256" y="2304288"/>
            <a:ext cx="640080" cy="640080"/>
          </a:xfrm>
          <a:prstGeom prst="ellipse">
            <a:avLst/>
          </a:prstGeom>
          <a:solidFill>
            <a:srgbClr val="107C82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478" y="2483510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992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searching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scanning every chart page by hand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97296" y="2304288"/>
            <a:ext cx="640080" cy="640080"/>
          </a:xfrm>
          <a:prstGeom prst="ellipse">
            <a:avLst/>
          </a:prstGeom>
          <a:solidFill>
            <a:srgbClr val="107C82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518" y="248351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9992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one place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24612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proof organized and cited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0312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546336" y="2304288"/>
            <a:ext cx="640080" cy="640080"/>
          </a:xfrm>
          <a:prstGeom prst="ellipse">
            <a:avLst/>
          </a:prstGeom>
          <a:solidFill>
            <a:srgbClr val="F97C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558" y="248351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29992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surfaced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324612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notes are easy to spot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74904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048256" y="3950208"/>
            <a:ext cx="640080" cy="640080"/>
          </a:xfrm>
          <a:prstGeom prst="ellipse">
            <a:avLst/>
          </a:prstGeom>
          <a:solidFill>
            <a:srgbClr val="107C82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7478" y="4129430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464515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packages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22960" y="489204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and traceable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374904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797296" y="3950208"/>
            <a:ext cx="640080" cy="640080"/>
          </a:xfrm>
          <a:prstGeom prst="ellipse">
            <a:avLst/>
          </a:prstGeom>
          <a:solidFill>
            <a:srgbClr val="1F9E6E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6518" y="4129430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89120" y="464515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control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489204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makes the final call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374904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9546336" y="3950208"/>
            <a:ext cx="640080" cy="640080"/>
          </a:xfrm>
          <a:prstGeom prst="ellipse">
            <a:avLst/>
          </a:prstGeom>
          <a:solidFill>
            <a:srgbClr val="107C82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5558" y="4129430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38160" y="464515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Relationship-aware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21040" y="489204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not just flat text search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reviewer workspace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529584"/>
          </a:xfrm>
          <a:prstGeom prst="roundRect">
            <a:avLst>
              <a:gd name="adj" fmla="val 1758"/>
            </a:avLst>
          </a:prstGeom>
          <a:solidFill>
            <a:srgbClr val="EAF4F5"/>
          </a:solidFill>
          <a:ln w="19050">
            <a:solidFill>
              <a:srgbClr val="12A59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03320" y="3296412"/>
            <a:ext cx="640080" cy="6400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542" y="347563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730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 HERE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3205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claim review screen — status, evidence sections &amp; graph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3524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35240" y="2240280"/>
            <a:ext cx="365760" cy="36576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352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222199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incoming claim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2752344"/>
            <a:ext cx="365760" cy="36576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3524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38160" y="273405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Claim Review → LangGraph starts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3264408"/>
            <a:ext cx="365760" cy="36576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352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38160" y="32461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 a status + explanation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3776472"/>
            <a:ext cx="365760" cy="36576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3524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38160" y="37581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evidence, policy gaps &amp; trace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35240" y="4288536"/>
            <a:ext cx="365760" cy="36576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6352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38160" y="42702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connected evidence graph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635240" y="4800600"/>
            <a:ext cx="365760" cy="36576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635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138160" y="47823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Approve / Reject / Escalate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35240" y="5312664"/>
            <a:ext cx="365760" cy="365760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635240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38160" y="52943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stored in audit history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5D01089-1CD7-8C64-E18B-31E36F8DE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0" y="1773936"/>
            <a:ext cx="6812177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Current limitations and where it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AFA"/>
          </a:solidFill>
          <a:ln w="12700">
            <a:solidFill>
              <a:srgbClr val="D3E3E5"/>
            </a:solidFill>
            <a:prstDash val="solid"/>
          </a:ln>
          <a:effectLst>
            <a:outerShdw blurRad="152400" dist="50800" dir="5400000" algn="bl" rotWithShape="0">
              <a:srgbClr val="0A3D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11680"/>
            <a:ext cx="566928" cy="566928"/>
          </a:xfrm>
          <a:prstGeom prst="ellipse">
            <a:avLst/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52" y="217042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48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MVP limitations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synthetic demo data &amp; policies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deployment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production clinical software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flow is demo-level, no full PDF/OCR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are simplified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extraction needs more validation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0A3D4A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55664" y="201168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404" y="2170420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48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73952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PDF / chart parsing &amp; OCR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clinical entity extraction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diagnosis &amp; policy types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feedback loop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dashboard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Agent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0E4C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107C8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822960"/>
            <a:ext cx="822960" cy="822960"/>
          </a:xfrm>
          <a:prstGeom prst="ellipse">
            <a:avLst/>
          </a:prstGeom>
          <a:solidFill>
            <a:srgbClr val="12A594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10533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9875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Clinical Review Agent turns a flagged diagnosis into an </a:t>
            </a:r>
            <a:r>
              <a:rPr lang="en-US" sz="3000" b="1" dirty="0">
                <a:solidFill>
                  <a:srgbClr val="12A5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evidence-cited, graph-validated, human-reviewable</a:t>
            </a: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case package.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139696" cy="1234440"/>
          </a:xfrm>
          <a:prstGeom prst="roundRect">
            <a:avLst>
              <a:gd name="adj" fmla="val 7407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618488" y="4325112"/>
            <a:ext cx="548640" cy="54864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107" y="447873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892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51297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text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4663440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18688" y="4160520"/>
            <a:ext cx="2139696" cy="1234440"/>
          </a:xfrm>
          <a:prstGeom prst="roundRect">
            <a:avLst>
              <a:gd name="adj" fmla="val 7407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014216" y="4325112"/>
            <a:ext cx="548640" cy="54864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7835" y="4478731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18688" y="4892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218688" y="51297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links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4663440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614416" y="4160520"/>
            <a:ext cx="2139696" cy="1234440"/>
          </a:xfrm>
          <a:prstGeom prst="roundRect">
            <a:avLst>
              <a:gd name="adj" fmla="val 7407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4"/>
          <p:cNvSpPr/>
          <p:nvPr/>
        </p:nvSpPr>
        <p:spPr>
          <a:xfrm>
            <a:off x="6409944" y="4325112"/>
            <a:ext cx="548640" cy="548640"/>
          </a:xfrm>
          <a:prstGeom prst="ellipse">
            <a:avLst/>
          </a:prstGeom>
          <a:solidFill>
            <a:srgbClr val="F97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563" y="4478731"/>
            <a:ext cx="241402" cy="24140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14416" y="4892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614416" y="51297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meaning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663440"/>
            <a:ext cx="201168" cy="20116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10144" y="4160520"/>
            <a:ext cx="2139696" cy="1234440"/>
          </a:xfrm>
          <a:prstGeom prst="roundRect">
            <a:avLst>
              <a:gd name="adj" fmla="val 7407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8"/>
          <p:cNvSpPr/>
          <p:nvPr/>
        </p:nvSpPr>
        <p:spPr>
          <a:xfrm>
            <a:off x="8805672" y="4325112"/>
            <a:ext cx="548640" cy="548640"/>
          </a:xfrm>
          <a:prstGeom prst="ellipse">
            <a:avLst/>
          </a:prstGeom>
          <a:solidFill>
            <a:srgbClr val="1F9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9291" y="4478731"/>
            <a:ext cx="241402" cy="24140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010144" y="4892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8010144" y="51297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status</a:t>
            </a:r>
            <a:endParaRPr lang="en-US" sz="10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8128" y="4663440"/>
            <a:ext cx="201168" cy="201168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10405872" y="4160520"/>
            <a:ext cx="2139696" cy="1234440"/>
          </a:xfrm>
          <a:prstGeom prst="roundRect">
            <a:avLst>
              <a:gd name="adj" fmla="val 7407"/>
            </a:avLst>
          </a:prstGeom>
          <a:solidFill>
            <a:srgbClr val="0E4C5B"/>
          </a:solidFill>
          <a:ln w="12700">
            <a:solidFill>
              <a:srgbClr val="10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2"/>
          <p:cNvSpPr/>
          <p:nvPr/>
        </p:nvSpPr>
        <p:spPr>
          <a:xfrm>
            <a:off x="11201400" y="4325112"/>
            <a:ext cx="548640" cy="548640"/>
          </a:xfrm>
          <a:prstGeom prst="ellipse">
            <a:avLst/>
          </a:prstGeom>
          <a:solidFill>
            <a:srgbClr val="107C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55019" y="4478731"/>
            <a:ext cx="241402" cy="24140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405872" y="4892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10405872" y="51297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call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822960" y="5687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GraphRAG · local medical LLM · human review — working together to make clinical claim review more efficient and auditable.</a:t>
            </a:r>
            <a:endParaRPr lang="en-US" sz="1350" dirty="0"/>
          </a:p>
        </p:txBody>
      </p:sp>
      <p:sp>
        <p:nvSpPr>
          <p:cNvPr id="38" name="Text 26"/>
          <p:cNvSpPr/>
          <p:nvPr/>
        </p:nvSpPr>
        <p:spPr>
          <a:xfrm>
            <a:off x="822960" y="6327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Demo data only — not for real clinical, coding, or payment decisions.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1595</Words>
  <Application>Microsoft Macintosh PowerPoint</Application>
  <PresentationFormat>Widescreen</PresentationFormat>
  <Paragraphs>316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Review Agent</dc:title>
  <dc:subject>PptxGenJS Presentation</dc:subject>
  <dc:creator>Clinical Review Agent</dc:creator>
  <cp:lastModifiedBy>Shiwakoti, Prarthana</cp:lastModifiedBy>
  <cp:revision>3</cp:revision>
  <dcterms:created xsi:type="dcterms:W3CDTF">2026-07-01T16:36:18Z</dcterms:created>
  <dcterms:modified xsi:type="dcterms:W3CDTF">2026-07-02T02:02:24Z</dcterms:modified>
</cp:coreProperties>
</file>